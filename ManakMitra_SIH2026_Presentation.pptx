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377440" cy="1051560"/>
          </a:xfrm>
          <a:prstGeom prst="rect">
            <a:avLst/>
          </a:prstGeom>
        </p:spPr>
      </p:pic>
      <p:pic>
        <p:nvPicPr>
          <p:cNvPr id="5" name="Picture 4" descr="manakmitra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502920"/>
            <a:ext cx="6858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SMART INDIA HACKATHON 2026  •  IDEA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137160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1005840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200" b="1">
                <a:solidFill>
                  <a:srgbClr val="0F233C"/>
                </a:solidFill>
                <a:latin typeface="Segoe UI"/>
              </a:defRPr>
            </a:pPr>
            <a:r>
              <a:t>ManakMitra (मानक मित्र)</a:t>
            </a:r>
          </a:p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  <a:latin typeface="Segoe UI"/>
              </a:defRPr>
            </a:pPr>
            <a:r>
              <a:t>AI-Powered Recommendation Engine for Identifying Applicable Indian Standards for Procurement Specifications</a:t>
            </a:r>
          </a:p>
          <a:p>
            <a:pPr>
              <a:defRPr sz="1150">
                <a:solidFill>
                  <a:srgbClr val="334155"/>
                </a:solidFill>
                <a:latin typeface="Segoe UI"/>
              </a:defRPr>
            </a:pPr>
            <a:r>
              <a:t>An intelligent, zero-hallucination workflow empowering government procurement officers to instantly discover primary BIS standards, auto-map mandatory allied testing &amp; safety regulations, and assemble audit-proof tender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160520"/>
            <a:ext cx="254203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61688"/>
            <a:ext cx="2176272" cy="1600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PROBLEM STATEMENT ID</a:t>
            </a:r>
          </a:p>
          <a:p>
            <a:pPr>
              <a:spcAft>
                <a:spcPts val="400"/>
              </a:spcAft>
              <a:defRPr sz="1500" b="1">
                <a:solidFill>
                  <a:srgbClr val="0F233C"/>
                </a:solidFill>
                <a:latin typeface="Segoe UI"/>
              </a:defRPr>
            </a:pPr>
            <a:r>
              <a:t>SIH26108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Ministry of Consumer Affairs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416052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4160520"/>
            <a:ext cx="254203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4361688"/>
            <a:ext cx="2176272" cy="1600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THEME &amp; CATEGORY</a:t>
            </a:r>
          </a:p>
          <a:p>
            <a:pPr>
              <a:spcAft>
                <a:spcPts val="400"/>
              </a:spcAft>
              <a:defRPr sz="1500" b="1">
                <a:solidFill>
                  <a:srgbClr val="0F233C"/>
                </a:solidFill>
                <a:latin typeface="Segoe UI"/>
              </a:defRPr>
            </a:pPr>
            <a:r>
              <a:t>Smart Automation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Category: Software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416052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4160520"/>
            <a:ext cx="254203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4361688"/>
            <a:ext cx="2176272" cy="1600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LEGAL ANCHOR</a:t>
            </a:r>
          </a:p>
          <a:p>
            <a:pPr>
              <a:spcAft>
                <a:spcPts val="400"/>
              </a:spcAft>
              <a:defRPr sz="1500" b="1">
                <a:solidFill>
                  <a:srgbClr val="0F233C"/>
                </a:solidFill>
                <a:latin typeface="Segoe UI"/>
              </a:defRPr>
            </a:pPr>
            <a:r>
              <a:t>BIS Act, 2016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Mandatory Gazette QCOs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416052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06256" y="4160520"/>
            <a:ext cx="254203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4361688"/>
            <a:ext cx="2176272" cy="1600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TEAM DETAILS</a:t>
            </a:r>
          </a:p>
          <a:p>
            <a:pPr>
              <a:spcAft>
                <a:spcPts val="400"/>
              </a:spcAft>
              <a:defRPr sz="1500" b="1">
                <a:solidFill>
                  <a:srgbClr val="0F233C"/>
                </a:solidFill>
                <a:latin typeface="Segoe UI"/>
              </a:defRPr>
            </a:pPr>
            <a:r>
              <a:t>Team ManakMitra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Registered on Portal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8251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ManakMitra: AI-Powered Standards Recommendation Engine  |  Ministry of Consumer Affairs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89920" y="6419088"/>
            <a:ext cx="914400" cy="292608"/>
          </a:xfrm>
          <a:prstGeom prst="round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akmitr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6459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97706"/>
                </a:solidFill>
                <a:latin typeface="Segoe UI"/>
              </a:defRPr>
            </a:pPr>
            <a:r>
              <a:t>SMART INDIA HACKATHON 2026 | PS SIH26108</a:t>
            </a:r>
          </a:p>
          <a:p>
            <a:pPr>
              <a:defRPr sz="2000" b="1">
                <a:solidFill>
                  <a:srgbClr val="0F233C"/>
                </a:solidFill>
                <a:latin typeface="Segoe UI"/>
              </a:defRPr>
            </a:pPr>
            <a:r>
              <a:t>Proposed Solution: Intelligent BIS Recommendation Engine</a:t>
            </a:r>
          </a:p>
        </p:txBody>
      </p:sp>
      <p:pic>
        <p:nvPicPr>
          <p:cNvPr id="6" name="Picture 5" descr="sih_2026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37160"/>
            <a:ext cx="1554480" cy="685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932688"/>
            <a:ext cx="112772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10728655" cy="7132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52144"/>
            <a:ext cx="10362895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950">
                <a:solidFill>
                  <a:srgbClr val="2563EB"/>
                </a:solidFill>
                <a:latin typeface="Segoe UI"/>
              </a:defRPr>
            </a:pPr>
            <a:r>
              <a:t>THE PROCUREMENT PROBLEM: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Government officers spend days manually searching fragmented catalogs. Missing companion test or safety standards leads to vendor disputes, defective materials, and legal liabilities. ManakMitra automates the entire discovery &amp; compliance 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93392"/>
            <a:ext cx="2542032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93392"/>
            <a:ext cx="254203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176272"/>
            <a:ext cx="2212848" cy="3127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950">
                <a:solidFill>
                  <a:srgbClr val="2563EB"/>
                </a:solidFill>
                <a:latin typeface="Segoe UI"/>
              </a:defRPr>
            </a:pPr>
            <a:r>
              <a:t>PILLAR 01</a:t>
            </a:r>
          </a:p>
          <a:p>
            <a:pPr>
              <a:spcAft>
                <a:spcPts val="200"/>
              </a:spcAft>
              <a:defRPr b="1" sz="1300">
                <a:solidFill>
                  <a:srgbClr val="0F233C"/>
                </a:solidFill>
                <a:latin typeface="Segoe UI"/>
              </a:defRPr>
            </a:pPr>
            <a:r>
              <a:t>Natural-Language Intent Discovery</a:t>
            </a:r>
          </a:p>
          <a:p>
            <a:pPr>
              <a:spcAft>
                <a:spcPts val="800"/>
              </a:spcAft>
              <a:defRPr b="1" sz="950">
                <a:solidFill>
                  <a:srgbClr val="64748B"/>
                </a:solidFill>
                <a:latin typeface="Segoe UI"/>
              </a:defRPr>
            </a:pPr>
            <a:r>
              <a:t>Non-Expert Friendly Search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Officers enter requirements in everyday English or regional Indian languages (Hindi, Tamil, Marathi). The engine translates and understands technical intent without requiring exact IS codes or terminology.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993392"/>
            <a:ext cx="2542032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993392"/>
            <a:ext cx="254203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176272"/>
            <a:ext cx="2212848" cy="3127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950">
                <a:solidFill>
                  <a:srgbClr val="10B981"/>
                </a:solidFill>
                <a:latin typeface="Segoe UI"/>
              </a:defRPr>
            </a:pPr>
            <a:r>
              <a:t>PILLAR 02</a:t>
            </a:r>
          </a:p>
          <a:p>
            <a:pPr>
              <a:spcAft>
                <a:spcPts val="200"/>
              </a:spcAft>
              <a:defRPr b="1" sz="1300">
                <a:solidFill>
                  <a:srgbClr val="0F233C"/>
                </a:solidFill>
                <a:latin typeface="Segoe UI"/>
              </a:defRPr>
            </a:pPr>
            <a:r>
              <a:t>Deterministic &amp; Semantic Match</a:t>
            </a:r>
          </a:p>
          <a:p>
            <a:pPr>
              <a:spcAft>
                <a:spcPts val="800"/>
              </a:spcAft>
              <a:defRPr b="1" sz="950">
                <a:solidFill>
                  <a:srgbClr val="64748B"/>
                </a:solidFill>
                <a:latin typeface="Segoe UI"/>
              </a:defRPr>
            </a:pPr>
            <a:r>
              <a:t>Zero-Hallucination Retrieval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Combines Dense Embeddings (all-MiniLM-L6-v2) for conceptual intent with BM25 for technical precision. Features an exact-code fast-path and deliberately abstains rather than inventing non-existent standards.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993392"/>
            <a:ext cx="2542032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993392"/>
            <a:ext cx="254203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176272"/>
            <a:ext cx="2212848" cy="3127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950">
                <a:solidFill>
                  <a:srgbClr val="7C3AED"/>
                </a:solidFill>
                <a:latin typeface="Segoe UI"/>
              </a:defRPr>
            </a:pPr>
            <a:r>
              <a:t>PILLAR 03</a:t>
            </a:r>
          </a:p>
          <a:p>
            <a:pPr>
              <a:spcAft>
                <a:spcPts val="200"/>
              </a:spcAft>
              <a:defRPr b="1" sz="1300">
                <a:solidFill>
                  <a:srgbClr val="0F233C"/>
                </a:solidFill>
                <a:latin typeface="Segoe UI"/>
              </a:defRPr>
            </a:pPr>
            <a:r>
              <a:t>Allied Standards Knowledge Graph</a:t>
            </a:r>
          </a:p>
          <a:p>
            <a:pPr>
              <a:spcAft>
                <a:spcPts val="800"/>
              </a:spcAft>
              <a:defRPr b="1" sz="950">
                <a:solidFill>
                  <a:srgbClr val="64748B"/>
                </a:solidFill>
                <a:latin typeface="Segoe UI"/>
              </a:defRPr>
            </a:pPr>
            <a:r>
              <a:t>Complete Safety &amp; Quality Coverage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Automatically extracts and categorizes mandatory companion standards into Testing Methods, Safety Guidelines, Terminology, and Installation Rules—ensuring airtight tender specifications.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993392"/>
            <a:ext cx="2542032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06256" y="1993392"/>
            <a:ext cx="254203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2176272"/>
            <a:ext cx="2212848" cy="3127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950">
                <a:solidFill>
                  <a:srgbClr val="D97706"/>
                </a:solidFill>
                <a:latin typeface="Segoe UI"/>
              </a:defRPr>
            </a:pPr>
            <a:r>
              <a:t>PILLAR 04</a:t>
            </a:r>
          </a:p>
          <a:p>
            <a:pPr>
              <a:spcAft>
                <a:spcPts val="200"/>
              </a:spcAft>
              <a:defRPr b="1" sz="1300">
                <a:solidFill>
                  <a:srgbClr val="0F233C"/>
                </a:solidFill>
                <a:latin typeface="Segoe UI"/>
              </a:defRPr>
            </a:pPr>
            <a:r>
              <a:t>Compliance &amp; Audit-Proof Output</a:t>
            </a:r>
          </a:p>
          <a:p>
            <a:pPr>
              <a:spcAft>
                <a:spcPts val="800"/>
              </a:spcAft>
              <a:defRPr b="1" sz="950">
                <a:solidFill>
                  <a:srgbClr val="64748B"/>
                </a:solidFill>
                <a:latin typeface="Segoe UI"/>
              </a:defRPr>
            </a:pPr>
            <a:r>
              <a:t>Govt e-Marketplace (GeM) Ready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Identifies latest reaffirmed editions, active Gazette Quality Control Orders (QCOs), and BIS/CRS certification badges. Exports tender-ready clauses and connects directly to 431 accredited testing labs.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32120"/>
            <a:ext cx="10728655" cy="658368"/>
          </a:xfrm>
          <a:prstGeom prst="round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96128"/>
            <a:ext cx="1036289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D97706"/>
                </a:solidFill>
                <a:latin typeface="Segoe UI"/>
              </a:defRPr>
            </a:pPr>
            <a:r>
              <a:t>CORE VALUE DELIVERED TO GOVERNMENT PROCUREMENT</a:t>
            </a:r>
          </a:p>
          <a:p>
            <a:pPr>
              <a:defRPr b="1" sz="1100">
                <a:solidFill>
                  <a:srgbClr val="FFFFFF"/>
                </a:solidFill>
                <a:latin typeface="Segoe UI"/>
              </a:defRPr>
            </a:pPr>
            <a:r>
              <a:t>⚡ 80% Reduction in Drafting Time    |    🛡️ 100% Mandatory Safety Coverage    |    🔒 Zero AI Hallucination Policy    |    🌐 Multilingual Regional 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38251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37376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ManakMitra: AI-Powered Standards Recommendation Engine  |  Ministry of Consumer Affairs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89920" y="6419088"/>
            <a:ext cx="914400" cy="292608"/>
          </a:xfrm>
          <a:prstGeom prst="round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akmitr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6459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97706"/>
                </a:solidFill>
                <a:latin typeface="Segoe UI"/>
              </a:defRPr>
            </a:pPr>
            <a:r>
              <a:t>SMART INDIA HACKATHON 2026 | PS SIH26108</a:t>
            </a:r>
          </a:p>
          <a:p>
            <a:pPr>
              <a:defRPr sz="2000" b="1">
                <a:solidFill>
                  <a:srgbClr val="0F233C"/>
                </a:solidFill>
                <a:latin typeface="Segoe UI"/>
              </a:defRPr>
            </a:pPr>
            <a:r>
              <a:t>Technical Approach: 4-Stage Architecture &amp; Technology Stack</a:t>
            </a:r>
          </a:p>
        </p:txBody>
      </p:sp>
      <p:pic>
        <p:nvPicPr>
          <p:cNvPr id="6" name="Picture 5" descr="sih_2026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37160"/>
            <a:ext cx="1554480" cy="685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932688"/>
            <a:ext cx="112772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15568"/>
            <a:ext cx="254203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15568"/>
            <a:ext cx="2542032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15568"/>
            <a:ext cx="254203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07008"/>
            <a:ext cx="22677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2563EB"/>
                </a:solidFill>
                <a:latin typeface="Segoe UI"/>
              </a:defRPr>
            </a:pPr>
            <a:r>
              <a:t>STAGE 1</a:t>
            </a:r>
          </a:p>
          <a:p>
            <a:pPr>
              <a:defRPr b="1" sz="1200">
                <a:solidFill>
                  <a:srgbClr val="0F233C"/>
                </a:solidFill>
                <a:latin typeface="Segoe UI"/>
              </a:defRPr>
            </a:pPr>
            <a:r>
              <a:t>Multi-Modal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92808"/>
            <a:ext cx="2267712" cy="3108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• User Input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  Natural language spec, tender clause, or tender document upload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• Multilingual Engine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  NLLB / MarianMT translates regional queries to English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• Exact Router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  Bypasses ML if exact standard code (e.g., 'IS 456') is detected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115568"/>
            <a:ext cx="254203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115568"/>
            <a:ext cx="2542032" cy="65836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1115568"/>
            <a:ext cx="254203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1207008"/>
            <a:ext cx="22677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7C3AED"/>
                </a:solidFill>
                <a:latin typeface="Segoe UI"/>
              </a:defRPr>
            </a:pPr>
            <a:r>
              <a:t>STAGE 2</a:t>
            </a:r>
          </a:p>
          <a:p>
            <a:pPr>
              <a:defRPr b="1" sz="1200">
                <a:solidFill>
                  <a:srgbClr val="0F233C"/>
                </a:solidFill>
                <a:latin typeface="Segoe UI"/>
              </a:defRPr>
            </a:pPr>
            <a:r>
              <a:t>Hybrid Retrieval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1892808"/>
            <a:ext cx="2267712" cy="3108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• Semantic Search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  Sentence-Transformers (all-MiniLM-L6-v2) generates 384-d vectors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• Lexical Search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  BM25 Okapi captures precise engineering terms &amp; material grades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• Hybrid RRF Ranking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  Reciprocal Rank Fusion merges dense &amp; sparse search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115568"/>
            <a:ext cx="254203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115568"/>
            <a:ext cx="2542032" cy="65836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115568"/>
            <a:ext cx="254203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1207008"/>
            <a:ext cx="22677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D97706"/>
                </a:solidFill>
                <a:latin typeface="Segoe UI"/>
              </a:defRPr>
            </a:pPr>
            <a:r>
              <a:t>STAGE 3</a:t>
            </a:r>
          </a:p>
          <a:p>
            <a:pPr>
              <a:defRPr b="1" sz="1200">
                <a:solidFill>
                  <a:srgbClr val="0F233C"/>
                </a:solidFill>
                <a:latin typeface="Segoe UI"/>
              </a:defRPr>
            </a:pPr>
            <a:r>
              <a:t>BIS Domain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1892808"/>
            <a:ext cx="2267712" cy="3108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• Knowledge Graph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  Relational mapping connects parent standard to normative references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• Allied Categories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  Categorizes standards into: Testing, Safety, Terminology, Installation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• QCO &amp; Certification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  Enforces active Gazette Quality Control Orders &amp; BIS/CRS badges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6256" y="1115568"/>
            <a:ext cx="254203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6256" y="1115568"/>
            <a:ext cx="2542032" cy="6583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6256" y="1115568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43416" y="1207008"/>
            <a:ext cx="22677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10B981"/>
                </a:solidFill>
                <a:latin typeface="Segoe UI"/>
              </a:defRPr>
            </a:pPr>
            <a:r>
              <a:t>STAGE 4</a:t>
            </a:r>
          </a:p>
          <a:p>
            <a:pPr>
              <a:defRPr b="1" sz="1200">
                <a:solidFill>
                  <a:srgbClr val="0F233C"/>
                </a:solidFill>
                <a:latin typeface="Segoe UI"/>
              </a:defRPr>
            </a:pPr>
            <a:r>
              <a:t>Workbench &amp; 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1892808"/>
            <a:ext cx="2267712" cy="3108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• FastAPI Services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  Modular endpoints: /recommend, /audit, /allied, /labs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• React UI Workbench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  Interactive search, filter cards, and clause compliance checker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• GeM Portal Ready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  Clean REST API contracts ready for e-Marketplace integration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230368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21808"/>
            <a:ext cx="1036289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b="1" sz="850">
                <a:solidFill>
                  <a:srgbClr val="D97706"/>
                </a:solidFill>
                <a:latin typeface="Segoe UI"/>
              </a:defRPr>
            </a:pPr>
            <a:r>
              <a:t>CORE TECHNOLOGIES &amp; INFRASTRUCTURE</a:t>
            </a:r>
          </a:p>
          <a:p>
            <a:pPr>
              <a:defRPr sz="1000" b="0">
                <a:solidFill>
                  <a:srgbClr val="0F172A"/>
                </a:solidFill>
                <a:latin typeface="Segoe UI"/>
              </a:defRPr>
            </a:pPr>
            <a:r>
              <a:t>AI / ML: Sentence-Transformers (all-MiniLM-L6-v2), BM25 Okapi, RRF Ranking  |  Backend: FastAPI (Python 3.11), Pydantic, REST APIs</a:t>
            </a:r>
            <a:br/>
            <a:r>
              <a:t>Frontend: React 18, Vite, TailwindCSS, Responsive UI  |  Data Layer: Curated IS Knowledge Base (337+ Standards, 431 Labs, Gazette QCOs)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38251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37376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ManakMitra: AI-Powered Standards Recommendation Engine  |  Ministry of Consumer Affairs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89920" y="6419088"/>
            <a:ext cx="914400" cy="292608"/>
          </a:xfrm>
          <a:prstGeom prst="round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akmitr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6459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97706"/>
                </a:solidFill>
                <a:latin typeface="Segoe UI"/>
              </a:defRPr>
            </a:pPr>
            <a:r>
              <a:t>SMART INDIA HACKATHON 2026 | PS SIH26108</a:t>
            </a:r>
          </a:p>
          <a:p>
            <a:pPr>
              <a:defRPr sz="2000" b="1">
                <a:solidFill>
                  <a:srgbClr val="0F233C"/>
                </a:solidFill>
                <a:latin typeface="Segoe UI"/>
              </a:defRPr>
            </a:pPr>
            <a:r>
              <a:t>Feasibility &amp; Viability: Risk Analysis &amp; Mitigation Strategy</a:t>
            </a:r>
          </a:p>
        </p:txBody>
      </p:sp>
      <p:pic>
        <p:nvPicPr>
          <p:cNvPr id="6" name="Picture 5" descr="sih_2026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37160"/>
            <a:ext cx="1554480" cy="685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932688"/>
            <a:ext cx="112772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1072865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52144"/>
            <a:ext cx="1036289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D97706"/>
                </a:solidFill>
                <a:latin typeface="Segoe UI"/>
              </a:defRPr>
            </a:pPr>
            <a:r>
              <a:t>EXECUTIVE VIABILITY SCORECARD</a:t>
            </a:r>
          </a:p>
          <a:p>
            <a:pPr>
              <a:defRPr b="1" sz="1050">
                <a:solidFill>
                  <a:srgbClr val="0F233C"/>
                </a:solidFill>
                <a:latin typeface="Segoe UI"/>
              </a:defRPr>
            </a:pPr>
            <a:r>
              <a:t>Technical Risk: LOW (Proven Hybrid Retrieval)   |   Operational Cost: LOW (No High-End GPUs Required)   |   GeM Readiness: HIGH (Modular REST APIs)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52578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74519"/>
            <a:ext cx="5257800" cy="5029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874519"/>
            <a:ext cx="525780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84247"/>
            <a:ext cx="4892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100">
                <a:solidFill>
                  <a:srgbClr val="E11D48"/>
                </a:solidFill>
                <a:latin typeface="Segoe UI"/>
              </a:defRPr>
            </a:pPr>
            <a:r>
              <a:t>⚠️  POTENTIAL ENGINEERING CHALLENGES &amp; RISKS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874519"/>
            <a:ext cx="52578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874519"/>
            <a:ext cx="5257800" cy="502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874519"/>
            <a:ext cx="5257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984247"/>
            <a:ext cx="4892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100">
                <a:solidFill>
                  <a:srgbClr val="10B981"/>
                </a:solidFill>
                <a:latin typeface="Segoe UI"/>
              </a:defRPr>
            </a:pPr>
            <a:r>
              <a:t>🛡️  MANAKMITRA MITIGATION STRATEGIES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468879"/>
            <a:ext cx="48920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1. BIS Data Availability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BIS does not provide a public REST API for standard metadata. Sourcing scopes, titles, and amendments requires semi-automated extraction.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2. AI Hallucination &amp; Legal Risk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Generative LLMs invent non-existent standard numbers or hallucinate outdated specifications, creating serious legal liabilities.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3. Catalog Scalability &amp; Coverage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Full BIS catalog contains 21,000+ standards across diverse disciplines. Launching with full coverage risks dilution of data quality.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4. Government Portal Integration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Direct integration into live e-procurement portals (GeM, State Portals) requires compliance with strict security &amp; API standards.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68879"/>
            <a:ext cx="48920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Curated Ground-Truth Knowledge Base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Curated 337+ high-frequency procurement standards with complete scopes, amendment histories, and Gazette Quality Control Orders (QCOs).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Closed-Domain Deterministic Retrieval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Retrieval is strictly bounded to verified BIS database. Features explicit abstention ('Not Determined') over guessing if confidence is low.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Priority-Tiered Phased Rollout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Prioritized high-volume public procurement categories first (Civil, Electrical, Safety, Textiles). Ingestion scripts scale incrementally.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Decoupled, API-First Microservice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FastAPI endpoints (/recommend, /audit) built as lightweight microservices, ready for zero-friction integration via standard REST JSON.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38251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37376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ManakMitra: AI-Powered Standards Recommendation Engine  |  Ministry of Consumer Affairs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89920" y="6419088"/>
            <a:ext cx="914400" cy="292608"/>
          </a:xfrm>
          <a:prstGeom prst="round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akmitr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6459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97706"/>
                </a:solidFill>
                <a:latin typeface="Segoe UI"/>
              </a:defRPr>
            </a:pPr>
            <a:r>
              <a:t>SMART INDIA HACKATHON 2026 | PS SIH26108</a:t>
            </a:r>
          </a:p>
          <a:p>
            <a:pPr>
              <a:defRPr sz="2000" b="1">
                <a:solidFill>
                  <a:srgbClr val="0F233C"/>
                </a:solidFill>
                <a:latin typeface="Segoe UI"/>
              </a:defRPr>
            </a:pPr>
            <a:r>
              <a:t>Impact &amp; Benefits: Empowering Public Procurement at National Scale</a:t>
            </a:r>
          </a:p>
        </p:txBody>
      </p:sp>
      <p:pic>
        <p:nvPicPr>
          <p:cNvPr id="6" name="Picture 5" descr="sih_2026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37160"/>
            <a:ext cx="1554480" cy="685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932688"/>
            <a:ext cx="112772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15568"/>
            <a:ext cx="5257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15568"/>
            <a:ext cx="525780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15568"/>
            <a:ext cx="5257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225296"/>
            <a:ext cx="4892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100">
                <a:solidFill>
                  <a:srgbClr val="2563EB"/>
                </a:solidFill>
                <a:latin typeface="Segoe UI"/>
              </a:defRPr>
            </a:pPr>
            <a:r>
              <a:t>👥  KEY BENEFICIARIES &amp; STAKEHOLDER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55648"/>
            <a:ext cx="48920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0F233C"/>
                </a:solidFill>
                <a:latin typeface="Segoe UI"/>
              </a:defRPr>
            </a:pPr>
            <a:r>
              <a:t>1. Procurement Officers (Govt Depts, Railways, Defense, CPWD)</a:t>
            </a:r>
          </a:p>
          <a:p>
            <a:pPr>
              <a:spcAft>
                <a:spcPts val="1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Cuts research time from days to minutes. Officers no longer need to cross-check thick PDF catalogues or risk citing outdated standards. Delivers complete specifications ready for tender publication.</a:t>
            </a:r>
          </a:p>
          <a:p>
            <a:pPr>
              <a:spcAft>
                <a:spcPts val="300"/>
              </a:spcAft>
              <a:defRPr b="1" sz="1100">
                <a:solidFill>
                  <a:srgbClr val="0F233C"/>
                </a:solidFill>
                <a:latin typeface="Segoe UI"/>
              </a:defRPr>
            </a:pPr>
            <a:r>
              <a:t>2. Public Sector Enterprises (PSUs) &amp; State Agencies</a:t>
            </a:r>
          </a:p>
          <a:p>
            <a:pPr>
              <a:spcAft>
                <a:spcPts val="1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Eliminates contractual loopholes, vendor disputes, and CVC audit objections. Guarantees that public infrastructure materials strictly comply with mandatory Bureau of Indian Standards mandates.</a:t>
            </a:r>
          </a:p>
          <a:p>
            <a:pPr>
              <a:spcAft>
                <a:spcPts val="300"/>
              </a:spcAft>
              <a:defRPr b="1" sz="1100">
                <a:solidFill>
                  <a:srgbClr val="0F233C"/>
                </a:solidFill>
                <a:latin typeface="Segoe UI"/>
              </a:defRPr>
            </a:pPr>
            <a:r>
              <a:t>3. MSMEs &amp; Participating Bidders</a:t>
            </a:r>
          </a:p>
          <a:p>
            <a:pPr>
              <a:spcAft>
                <a:spcPts val="1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Provides unambiguous, standardized tender requirements without hidden or missing testing clauses. Ensures transparent bidding and levels the playing field for compliant domestic manufacturers.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115568"/>
            <a:ext cx="5257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115568"/>
            <a:ext cx="5257800" cy="502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115568"/>
            <a:ext cx="5257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225296"/>
            <a:ext cx="48920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100">
                <a:solidFill>
                  <a:srgbClr val="10B981"/>
                </a:solidFill>
                <a:latin typeface="Segoe UI"/>
              </a:defRPr>
            </a:pPr>
            <a:r>
              <a:t>📈  MEASURABLE SYSTEM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55648"/>
            <a:ext cx="48920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0F233C"/>
                </a:solidFill>
                <a:latin typeface="Segoe UI"/>
              </a:defRPr>
            </a:pPr>
            <a:r>
              <a:t>⚡ 80% Reduction in Tender Preparation Time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Replaces tedious manual searches with instantaneous multi-standard assembly, cutting tender drafting cycles from days to under 5 minutes.</a:t>
            </a:r>
          </a:p>
          <a:p>
            <a:pPr>
              <a:spcAft>
                <a:spcPts val="200"/>
              </a:spcAft>
              <a:defRPr b="1" sz="1100">
                <a:solidFill>
                  <a:srgbClr val="0F233C"/>
                </a:solidFill>
                <a:latin typeface="Segoe UI"/>
              </a:defRPr>
            </a:pPr>
            <a:r>
              <a:t>🛡️ 100% Mandatory Safety &amp; Allied Standard Coverage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Eliminates single-standard omissions by automatically attaching companion testing methods, safety rules, and installation codes.</a:t>
            </a:r>
          </a:p>
          <a:p>
            <a:pPr>
              <a:spcAft>
                <a:spcPts val="200"/>
              </a:spcAft>
              <a:defRPr b="1" sz="1100">
                <a:solidFill>
                  <a:srgbClr val="0F233C"/>
                </a:solidFill>
                <a:latin typeface="Segoe UI"/>
              </a:defRPr>
            </a:pPr>
            <a:r>
              <a:t>🧪 Direct Linkage to 431 BIS-Recognized Testing Labs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Integrated laboratory directory across 24 Indian states allows procurement officers to immediately identify accredited test facilities for quality verification.</a:t>
            </a:r>
          </a:p>
          <a:p>
            <a:pPr>
              <a:spcAft>
                <a:spcPts val="200"/>
              </a:spcAft>
              <a:defRPr b="1" sz="1100">
                <a:solidFill>
                  <a:srgbClr val="0F233C"/>
                </a:solidFill>
                <a:latin typeface="Segoe UI"/>
              </a:defRPr>
            </a:pPr>
            <a:r>
              <a:t>🌐 Pan-India Multilingual Democratization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Enables non-English speaking municipal and district officers to query specifications in regional languages, bringing national standards to the grassroots.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8251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37376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ManakMitra: AI-Powered Standards Recommendation Engine  |  Ministry of Consumer Affairs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89920" y="6419088"/>
            <a:ext cx="914400" cy="292608"/>
          </a:xfrm>
          <a:prstGeom prst="round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akmitr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64592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97706"/>
                </a:solidFill>
                <a:latin typeface="Segoe UI"/>
              </a:defRPr>
            </a:pPr>
            <a:r>
              <a:t>SMART INDIA HACKATHON 2026 | PS SIH26108</a:t>
            </a:r>
          </a:p>
          <a:p>
            <a:pPr>
              <a:defRPr sz="2000" b="1">
                <a:solidFill>
                  <a:srgbClr val="0F233C"/>
                </a:solidFill>
                <a:latin typeface="Segoe UI"/>
              </a:defRPr>
            </a:pPr>
            <a:r>
              <a:t>Research, Statutory Mandate &amp; Future Scalability</a:t>
            </a:r>
          </a:p>
        </p:txBody>
      </p:sp>
      <p:pic>
        <p:nvPicPr>
          <p:cNvPr id="6" name="Picture 5" descr="sih_2026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137160"/>
            <a:ext cx="1554480" cy="685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932688"/>
            <a:ext cx="112772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15568"/>
            <a:ext cx="3447288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15568"/>
            <a:ext cx="3447288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15568"/>
            <a:ext cx="3447288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25296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D97706"/>
                </a:solidFill>
                <a:latin typeface="Segoe UI"/>
              </a:defRPr>
            </a:pPr>
            <a:r>
              <a:t>STATUTORY MANDATE &amp; LEGAL BASIS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3172968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Bureau of Indian Standards Act, 2016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Establishes BIS as the National Standards Body of India; mandates conformity assessment and standards enforcement for consumer safety.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Ministry of Consumer Affairs Mandate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Directly addresses SIH Problem Statement SIH26108 under the Department of Consumer Affairs to streamline standards adoption.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Quality Control Orders (QCOs)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Gazette notifications issued by Ministries making specific Indian Standards legally compulsory for manufacturing and import.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General Financial Rules (GFR 2017)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Rule 144(i) mandates that technical specifications for goods must adhere to recognized Indian National Standards wherever available.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115568"/>
            <a:ext cx="3447288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115568"/>
            <a:ext cx="3447288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115568"/>
            <a:ext cx="344728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225296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Segoe UI"/>
              </a:defRPr>
            </a:pPr>
            <a:r>
              <a:t>RESEARCH &amp; ALGORITHMIC RIGOR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737360"/>
            <a:ext cx="3172968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all-MiniLM-L6-v2 Semantic Embeddings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Maps procurement queries into 384-dimensional dense vectors to understand technical semantics beyond shallow keywords.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Lexical BM25 Okapi Retrieval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Scores exact matches on technical terminology, material classifications, standard numbers, and specialized engineering vocabulary.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Reciprocal Rank Fusion (RRF)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Ensemble algorithm combining semantic and sparse scores to rank standards with highest relevance without score scale distortions.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Curated Normative Knowledge Graph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Structured relationship network linking primary product codes to parent safety codes, test protocols, and sampling methods.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115568"/>
            <a:ext cx="3447288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1115568"/>
            <a:ext cx="3447288" cy="502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1856" y="1115568"/>
            <a:ext cx="344728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9016" y="1225296"/>
            <a:ext cx="31729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10B981"/>
                </a:solidFill>
                <a:latin typeface="Segoe UI"/>
              </a:defRPr>
            </a:pPr>
            <a:r>
              <a:t>LIVE PROTOTYPE &amp; FUTURE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1737360"/>
            <a:ext cx="3172968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Live Working Prototype Today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337 Curated standards with full scopes</a:t>
            </a:r>
            <a:br/>
            <a:r>
              <a:t>• Interactive Allied Standards relational graph</a:t>
            </a:r>
            <a:br/>
            <a:r>
              <a:t>• 431 BIS-recognized labs across 24 states</a:t>
            </a:r>
            <a:br/>
            <a:r>
              <a:t>• AI Tender Auditor for scanning drafted clauses</a:t>
            </a:r>
          </a:p>
          <a:p>
            <a:pPr>
              <a:spcAft>
                <a:spcPts val="200"/>
              </a:spcAft>
              <a:defRPr b="1" sz="1050">
                <a:solidFill>
                  <a:srgbClr val="0F233C"/>
                </a:solidFill>
                <a:latin typeface="Segoe UI"/>
              </a:defRPr>
            </a:pPr>
            <a:r>
              <a:t>Production Integration Roadmap</a:t>
            </a:r>
          </a:p>
          <a:p>
            <a:pPr>
              <a:spcAft>
                <a:spcPts val="10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• Direct REST API hook into GeM (Govt e-Marketplace)</a:t>
            </a:r>
            <a:br/>
            <a:r>
              <a:t>• Automatic tender document compliance scoring</a:t>
            </a:r>
            <a:br/>
            <a:r>
              <a:t>• Real-time BIS Gazette QCO synchronization</a:t>
            </a:r>
            <a:br/>
            <a:r>
              <a:t>• Vendor laboratory test certificate verification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382512"/>
            <a:ext cx="112772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37376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ManakMitra: AI-Powered Standards Recommendation Engine  |  Ministry of Consumer Affairs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89920" y="6419088"/>
            <a:ext cx="914400" cy="292608"/>
          </a:xfrm>
          <a:prstGeom prst="round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